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62" r:id="rId3"/>
    <p:sldId id="341" r:id="rId4"/>
    <p:sldId id="346" r:id="rId5"/>
    <p:sldId id="345" r:id="rId6"/>
    <p:sldId id="344" r:id="rId7"/>
    <p:sldId id="347" r:id="rId8"/>
    <p:sldId id="282" r:id="rId9"/>
  </p:sldIdLst>
  <p:sldSz cx="12192000" cy="6858000"/>
  <p:notesSz cx="6798945" cy="9929495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3F3F3F"/>
        </a:solidFill>
        <a:effectLst/>
        <a:uFillTx/>
        <a:latin typeface="Myriad Pro Light"/>
        <a:ea typeface="Myriad Pro Light"/>
        <a:cs typeface="Myriad Pro Light"/>
        <a:sym typeface="Myriad Pro Light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howGuides="1">
      <p:cViewPr varScale="1">
        <p:scale>
          <a:sx n="117" d="100"/>
          <a:sy n="117" d="100"/>
        </p:scale>
        <p:origin x="808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189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2687"/>
          </a:xfrm>
          <a:prstGeom prst="rect">
            <a:avLst/>
          </a:prstGeom>
        </p:spPr>
        <p:txBody>
          <a:bodyPr lIns="91449" tIns="45725" rIns="91449" bIns="45725"/>
          <a:lstStyle/>
          <a:p/>
        </p:txBody>
      </p:sp>
      <p:sp>
        <p:nvSpPr>
          <p:cNvPr id="190" name="Shape 190"/>
          <p:cNvSpPr>
            <a:spLocks noGrp="1"/>
          </p:cNvSpPr>
          <p:nvPr>
            <p:ph type="body" sz="quarter" idx="1"/>
          </p:nvPr>
        </p:nvSpPr>
        <p:spPr>
          <a:xfrm>
            <a:off x="906569" y="4716662"/>
            <a:ext cx="4986127" cy="4468416"/>
          </a:xfrm>
          <a:prstGeom prst="rect">
            <a:avLst/>
          </a:prstGeom>
        </p:spPr>
        <p:txBody>
          <a:bodyPr lIns="91449" tIns="45725" rIns="91449" bIns="45725"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hasCustomPrompt="1"/>
          </p:nvPr>
        </p:nvSpPr>
        <p:spPr>
          <a:xfrm>
            <a:off x="831850" y="0"/>
            <a:ext cx="10515600" cy="4562475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sz="half" idx="1" hasCustomPrompt="1"/>
          </p:nvPr>
        </p:nvSpPr>
        <p:spPr>
          <a:xfrm>
            <a:off x="831850" y="4589462"/>
            <a:ext cx="10515600" cy="22685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909090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909090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909090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909090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90909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50323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Shape 57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>
            <a:spLocks noGrp="1"/>
          </p:cNvSpPr>
          <p:nvPr>
            <p:ph type="title" hasCustomPrompt="1"/>
          </p:nvPr>
        </p:nvSpPr>
        <p:spPr>
          <a:xfrm>
            <a:off x="839787" y="0"/>
            <a:ext cx="3932239" cy="2057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2" name="Shape 72"/>
          <p:cNvSpPr>
            <a:spLocks noGrp="1"/>
          </p:cNvSpPr>
          <p:nvPr>
            <p:ph type="body" idx="1" hasCustomPrompt="1"/>
          </p:nvPr>
        </p:nvSpPr>
        <p:spPr>
          <a:xfrm>
            <a:off x="5183187" y="987425"/>
            <a:ext cx="6172201" cy="587057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3" name="Shape 7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>
            <a:spLocks noGrp="1"/>
          </p:cNvSpPr>
          <p:nvPr>
            <p:ph type="title" hasCustomPrompt="1"/>
          </p:nvPr>
        </p:nvSpPr>
        <p:spPr>
          <a:xfrm>
            <a:off x="839787" y="0"/>
            <a:ext cx="3932239" cy="2057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1" name="Shape 81"/>
          <p:cNvSpPr>
            <a:spLocks noGrp="1"/>
          </p:cNvSpPr>
          <p:nvPr>
            <p:ph type="body" sz="half" idx="1" hasCustomPrompt="1"/>
          </p:nvPr>
        </p:nvSpPr>
        <p:spPr>
          <a:xfrm>
            <a:off x="839787" y="2057400"/>
            <a:ext cx="3932239" cy="480060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2" name="Shape 8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0" name="Shape 90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1" name="Shape 9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>
            <a:spLocks noGrp="1"/>
          </p:cNvSpPr>
          <p:nvPr>
            <p:ph type="title" hasCustomPrompt="1"/>
          </p:nvPr>
        </p:nvSpPr>
        <p:spPr>
          <a:xfrm>
            <a:off x="8724900" y="0"/>
            <a:ext cx="2628900" cy="6542088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9" name="Shape 99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64928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0" name="Shape 10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/>
        </p:nvSpPr>
        <p:spPr>
          <a:xfrm rot="6437540">
            <a:off x="1228062" y="3368968"/>
            <a:ext cx="1503925" cy="3483982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Shape 108"/>
          <p:cNvSpPr/>
          <p:nvPr/>
        </p:nvSpPr>
        <p:spPr>
          <a:xfrm rot="4567826">
            <a:off x="1575302" y="3857821"/>
            <a:ext cx="150392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" name="Shape 109"/>
          <p:cNvSpPr/>
          <p:nvPr/>
        </p:nvSpPr>
        <p:spPr>
          <a:xfrm rot="9588275">
            <a:off x="591298" y="314458"/>
            <a:ext cx="2463390" cy="3653226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Shape 110"/>
          <p:cNvSpPr/>
          <p:nvPr/>
        </p:nvSpPr>
        <p:spPr>
          <a:xfrm rot="2792007">
            <a:off x="1575302" y="1553061"/>
            <a:ext cx="150392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Shape 111"/>
          <p:cNvSpPr/>
          <p:nvPr/>
        </p:nvSpPr>
        <p:spPr>
          <a:xfrm rot="2792007">
            <a:off x="4471453" y="3792587"/>
            <a:ext cx="1612747" cy="2908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6536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Shape 112"/>
          <p:cNvSpPr/>
          <p:nvPr/>
        </p:nvSpPr>
        <p:spPr>
          <a:xfrm rot="8385510">
            <a:off x="3393339" y="2330308"/>
            <a:ext cx="252406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Shape 113"/>
          <p:cNvSpPr/>
          <p:nvPr/>
        </p:nvSpPr>
        <p:spPr>
          <a:xfrm rot="16731432">
            <a:off x="8633552" y="3577368"/>
            <a:ext cx="2273351" cy="2334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165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" name="Shape 114"/>
          <p:cNvSpPr/>
          <p:nvPr/>
        </p:nvSpPr>
        <p:spPr>
          <a:xfrm rot="16731432">
            <a:off x="6453299" y="2827022"/>
            <a:ext cx="2524065" cy="3570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Shape 115"/>
          <p:cNvSpPr/>
          <p:nvPr/>
        </p:nvSpPr>
        <p:spPr>
          <a:xfrm rot="2145676">
            <a:off x="5477857" y="3253437"/>
            <a:ext cx="2072876" cy="3310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Shape 116"/>
          <p:cNvSpPr/>
          <p:nvPr/>
        </p:nvSpPr>
        <p:spPr>
          <a:xfrm rot="19858145">
            <a:off x="9065645" y="215266"/>
            <a:ext cx="2303381" cy="3797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" name="Shape 117"/>
          <p:cNvSpPr/>
          <p:nvPr/>
        </p:nvSpPr>
        <p:spPr>
          <a:xfrm rot="19858145">
            <a:off x="4787820" y="1275052"/>
            <a:ext cx="2524065" cy="3483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Shape 118"/>
          <p:cNvSpPr/>
          <p:nvPr/>
        </p:nvSpPr>
        <p:spPr>
          <a:xfrm rot="13474640">
            <a:off x="5559847" y="430242"/>
            <a:ext cx="2096094" cy="1937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" name="Shape 119"/>
          <p:cNvSpPr/>
          <p:nvPr/>
        </p:nvSpPr>
        <p:spPr>
          <a:xfrm rot="9950758">
            <a:off x="7220377" y="355037"/>
            <a:ext cx="3271388" cy="3572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901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Shape 120"/>
          <p:cNvSpPr/>
          <p:nvPr/>
        </p:nvSpPr>
        <p:spPr>
          <a:xfrm rot="9950758">
            <a:off x="5031499" y="195991"/>
            <a:ext cx="2524065" cy="31278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Shape 121"/>
          <p:cNvSpPr/>
          <p:nvPr/>
        </p:nvSpPr>
        <p:spPr>
          <a:xfrm rot="14444175">
            <a:off x="2738985" y="655322"/>
            <a:ext cx="2524065" cy="27770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667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" name="Shape 122"/>
          <p:cNvSpPr/>
          <p:nvPr/>
        </p:nvSpPr>
        <p:spPr>
          <a:xfrm rot="16045770">
            <a:off x="9333879" y="4063296"/>
            <a:ext cx="2524065" cy="3125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852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Shape 123"/>
          <p:cNvSpPr/>
          <p:nvPr/>
        </p:nvSpPr>
        <p:spPr>
          <a:xfrm rot="16200000">
            <a:off x="6664703" y="1719180"/>
            <a:ext cx="1428979" cy="2282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Shape 124"/>
          <p:cNvSpPr/>
          <p:nvPr/>
        </p:nvSpPr>
        <p:spPr>
          <a:xfrm rot="16475618">
            <a:off x="-317511" y="1554642"/>
            <a:ext cx="2265735" cy="1718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781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" name="Shape 125"/>
          <p:cNvSpPr/>
          <p:nvPr/>
        </p:nvSpPr>
        <p:spPr>
          <a:xfrm rot="15194296">
            <a:off x="1844455" y="-467876"/>
            <a:ext cx="1540801" cy="33697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" name="Shape 126"/>
          <p:cNvSpPr/>
          <p:nvPr/>
        </p:nvSpPr>
        <p:spPr>
          <a:xfrm rot="16200000">
            <a:off x="9658057" y="-30588"/>
            <a:ext cx="2524065" cy="24932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6117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Shape 127"/>
          <p:cNvSpPr/>
          <p:nvPr/>
        </p:nvSpPr>
        <p:spPr>
          <a:xfrm rot="2792007">
            <a:off x="3212085" y="1719485"/>
            <a:ext cx="1503925" cy="3483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411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" name="Shape 128"/>
          <p:cNvSpPr/>
          <p:nvPr/>
        </p:nvSpPr>
        <p:spPr>
          <a:xfrm rot="6300000">
            <a:off x="8005203" y="4698725"/>
            <a:ext cx="1769966" cy="3483980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" name="Shape 129"/>
          <p:cNvSpPr/>
          <p:nvPr/>
        </p:nvSpPr>
        <p:spPr>
          <a:xfrm rot="9456389">
            <a:off x="10934923" y="2548137"/>
            <a:ext cx="1353610" cy="1691826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Shape 130"/>
          <p:cNvSpPr/>
          <p:nvPr/>
        </p:nvSpPr>
        <p:spPr>
          <a:xfrm rot="18497302">
            <a:off x="2455905" y="4930869"/>
            <a:ext cx="1355959" cy="1798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2007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" name="Shape 131"/>
          <p:cNvSpPr/>
          <p:nvPr/>
        </p:nvSpPr>
        <p:spPr>
          <a:xfrm rot="18253861">
            <a:off x="8149276" y="267413"/>
            <a:ext cx="2416134" cy="3205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54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Shape 132"/>
          <p:cNvSpPr/>
          <p:nvPr/>
        </p:nvSpPr>
        <p:spPr>
          <a:xfrm rot="9148746">
            <a:off x="7733696" y="1307732"/>
            <a:ext cx="2121250" cy="1780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" name="Shape 133"/>
          <p:cNvSpPr>
            <a:spLocks noGrp="1"/>
          </p:cNvSpPr>
          <p:nvPr>
            <p:ph type="sldNum" sz="quarter" idx="2"/>
          </p:nvPr>
        </p:nvSpPr>
        <p:spPr>
          <a:xfrm>
            <a:off x="87376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Shape 140"/>
          <p:cNvSpPr/>
          <p:nvPr/>
        </p:nvSpPr>
        <p:spPr>
          <a:xfrm rot="6437540">
            <a:off x="1228062" y="3368968"/>
            <a:ext cx="1503925" cy="3483982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Shape 141"/>
          <p:cNvSpPr/>
          <p:nvPr/>
        </p:nvSpPr>
        <p:spPr>
          <a:xfrm rot="4567826">
            <a:off x="1575302" y="3857821"/>
            <a:ext cx="150392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Shape 142"/>
          <p:cNvSpPr/>
          <p:nvPr/>
        </p:nvSpPr>
        <p:spPr>
          <a:xfrm rot="9588275">
            <a:off x="591298" y="314458"/>
            <a:ext cx="2463390" cy="3653226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Shape 143"/>
          <p:cNvSpPr/>
          <p:nvPr/>
        </p:nvSpPr>
        <p:spPr>
          <a:xfrm rot="2792007">
            <a:off x="1575302" y="1553061"/>
            <a:ext cx="150392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Shape 144"/>
          <p:cNvSpPr/>
          <p:nvPr/>
        </p:nvSpPr>
        <p:spPr>
          <a:xfrm rot="2792007">
            <a:off x="4471453" y="3792587"/>
            <a:ext cx="1612747" cy="29083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6536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Shape 145"/>
          <p:cNvSpPr/>
          <p:nvPr/>
        </p:nvSpPr>
        <p:spPr>
          <a:xfrm rot="8385510">
            <a:off x="3393339" y="2330308"/>
            <a:ext cx="2524066" cy="3483981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" name="Shape 146"/>
          <p:cNvSpPr/>
          <p:nvPr/>
        </p:nvSpPr>
        <p:spPr>
          <a:xfrm rot="16731432">
            <a:off x="8633552" y="3577368"/>
            <a:ext cx="2273351" cy="2334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165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Shape 147"/>
          <p:cNvSpPr/>
          <p:nvPr/>
        </p:nvSpPr>
        <p:spPr>
          <a:xfrm rot="16731432">
            <a:off x="6453299" y="2827022"/>
            <a:ext cx="2524065" cy="3570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Shape 148"/>
          <p:cNvSpPr/>
          <p:nvPr/>
        </p:nvSpPr>
        <p:spPr>
          <a:xfrm rot="2145676">
            <a:off x="5477857" y="3253437"/>
            <a:ext cx="2072876" cy="33109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" name="Shape 149"/>
          <p:cNvSpPr/>
          <p:nvPr/>
        </p:nvSpPr>
        <p:spPr>
          <a:xfrm rot="19858145">
            <a:off x="9065645" y="215266"/>
            <a:ext cx="2303381" cy="3797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Shape 150"/>
          <p:cNvSpPr/>
          <p:nvPr/>
        </p:nvSpPr>
        <p:spPr>
          <a:xfrm rot="19858145">
            <a:off x="4787820" y="1275052"/>
            <a:ext cx="2524065" cy="34839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" name="Shape 151"/>
          <p:cNvSpPr/>
          <p:nvPr/>
        </p:nvSpPr>
        <p:spPr>
          <a:xfrm rot="13474640">
            <a:off x="5559847" y="430242"/>
            <a:ext cx="2096094" cy="19373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" name="Shape 152"/>
          <p:cNvSpPr/>
          <p:nvPr/>
        </p:nvSpPr>
        <p:spPr>
          <a:xfrm rot="9950758">
            <a:off x="7220377" y="355037"/>
            <a:ext cx="3271388" cy="35720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901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3" name="Shape 153"/>
          <p:cNvSpPr/>
          <p:nvPr/>
        </p:nvSpPr>
        <p:spPr>
          <a:xfrm rot="9950758">
            <a:off x="5031499" y="195991"/>
            <a:ext cx="2524065" cy="31278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95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Shape 154"/>
          <p:cNvSpPr/>
          <p:nvPr/>
        </p:nvSpPr>
        <p:spPr>
          <a:xfrm rot="14444175">
            <a:off x="2738985" y="655322"/>
            <a:ext cx="2524065" cy="27770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667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5" name="Shape 155"/>
          <p:cNvSpPr/>
          <p:nvPr/>
        </p:nvSpPr>
        <p:spPr>
          <a:xfrm rot="16045770">
            <a:off x="9333879" y="4063296"/>
            <a:ext cx="2524065" cy="31255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852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6" name="Shape 156"/>
          <p:cNvSpPr/>
          <p:nvPr/>
        </p:nvSpPr>
        <p:spPr>
          <a:xfrm rot="16200000">
            <a:off x="6664703" y="1719180"/>
            <a:ext cx="1428979" cy="2282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Shape 157"/>
          <p:cNvSpPr/>
          <p:nvPr/>
        </p:nvSpPr>
        <p:spPr>
          <a:xfrm rot="16475618">
            <a:off x="-317511" y="1554642"/>
            <a:ext cx="2265735" cy="17189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7819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Shape 158"/>
          <p:cNvSpPr/>
          <p:nvPr/>
        </p:nvSpPr>
        <p:spPr>
          <a:xfrm rot="15194296">
            <a:off x="1844455" y="-467876"/>
            <a:ext cx="1540801" cy="33697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Shape 159"/>
          <p:cNvSpPr/>
          <p:nvPr/>
        </p:nvSpPr>
        <p:spPr>
          <a:xfrm rot="16200000">
            <a:off x="9658057" y="-30588"/>
            <a:ext cx="2524065" cy="24932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6117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0" name="Shape 160"/>
          <p:cNvSpPr/>
          <p:nvPr/>
        </p:nvSpPr>
        <p:spPr>
          <a:xfrm rot="2792007">
            <a:off x="3212085" y="1719485"/>
            <a:ext cx="1503925" cy="3483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411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Shape 161"/>
          <p:cNvSpPr/>
          <p:nvPr/>
        </p:nvSpPr>
        <p:spPr>
          <a:xfrm rot="6300000">
            <a:off x="8005203" y="4698725"/>
            <a:ext cx="1769966" cy="3483980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Shape 162"/>
          <p:cNvSpPr/>
          <p:nvPr/>
        </p:nvSpPr>
        <p:spPr>
          <a:xfrm rot="9456389">
            <a:off x="10934923" y="2548137"/>
            <a:ext cx="1353610" cy="1691826"/>
          </a:xfrm>
          <a:prstGeom prst="triangle">
            <a:avLst/>
          </a:pr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3" name="Shape 163"/>
          <p:cNvSpPr/>
          <p:nvPr/>
        </p:nvSpPr>
        <p:spPr>
          <a:xfrm rot="18497302">
            <a:off x="2455905" y="4930869"/>
            <a:ext cx="1355959" cy="17982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2007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4" name="Shape 164"/>
          <p:cNvSpPr/>
          <p:nvPr/>
        </p:nvSpPr>
        <p:spPr>
          <a:xfrm rot="18253861">
            <a:off x="8149276" y="267413"/>
            <a:ext cx="2416134" cy="32058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554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Shape 165"/>
          <p:cNvSpPr/>
          <p:nvPr/>
        </p:nvSpPr>
        <p:spPr>
          <a:xfrm rot="9148746">
            <a:off x="7733696" y="1307732"/>
            <a:ext cx="2121250" cy="17802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2F2F2">
              <a:alpha val="42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Shape 166"/>
          <p:cNvSpPr>
            <a:spLocks noGrp="1"/>
          </p:cNvSpPr>
          <p:nvPr>
            <p:ph type="sldNum" sz="quarter" idx="2"/>
          </p:nvPr>
        </p:nvSpPr>
        <p:spPr>
          <a:xfrm>
            <a:off x="87376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</a:p>
        </p:txBody>
      </p:sp>
      <p:sp>
        <p:nvSpPr>
          <p:cNvPr id="174" name="Shape 174"/>
          <p:cNvSpPr>
            <a:spLocks noGrp="1"/>
          </p:cNvSpPr>
          <p:nvPr>
            <p:ph type="sldNum" sz="quarter" idx="2"/>
          </p:nvPr>
        </p:nvSpPr>
        <p:spPr>
          <a:xfrm>
            <a:off x="8737600" y="6172200"/>
            <a:ext cx="2844800" cy="3683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38200" y="230187"/>
            <a:ext cx="10515600" cy="159543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50323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8610600" y="6404292"/>
            <a:ext cx="2743200" cy="2692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spAutoFit/>
          </a:bodyPr>
          <a:lstStyle>
            <a:lvl1pPr algn="r">
              <a:defRPr sz="1200">
                <a:solidFill>
                  <a:srgbClr val="90909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3F3F3F"/>
          </a:solidFill>
          <a:uFillTx/>
          <a:latin typeface="Myriad Pro Light"/>
          <a:ea typeface="Myriad Pro Light"/>
          <a:cs typeface="Myriad Pro Light"/>
          <a:sym typeface="Myriad Pro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yriad Pro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-11972" y="2651002"/>
            <a:ext cx="12192000" cy="2244356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  <a:endParaRPr dirty="0"/>
          </a:p>
        </p:txBody>
      </p:sp>
      <p:sp>
        <p:nvSpPr>
          <p:cNvPr id="165" name="Shape 165"/>
          <p:cNvSpPr/>
          <p:nvPr/>
        </p:nvSpPr>
        <p:spPr>
          <a:xfrm>
            <a:off x="457200" y="3246120"/>
            <a:ext cx="11247120" cy="868680"/>
          </a:xfrm>
          <a:prstGeom prst="rect">
            <a:avLst/>
          </a:prstGeom>
          <a:ln w="12700">
            <a:miter lim="400000"/>
          </a:ln>
        </p:spPr>
        <p:txBody>
          <a:bodyPr wrap="square" lIns="50800" tIns="25400" rIns="50800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sz="4400" b="1">
                <a:solidFill>
                  <a:srgbClr val="9C7A2E"/>
                </a:solidFill>
                <a:latin typeface="Calibri" panose="020F0502020204030204"/>
              </a:rPr>
              <a:t>《梦境回声》</a:t>
            </a:r>
            <a:endParaRPr sz="4400" b="1">
              <a:solidFill>
                <a:srgbClr val="9C7A2E"/>
              </a:solidFill>
              <a:latin typeface="Calibri" panose="020F0502020204030204"/>
            </a:endParaRPr>
          </a:p>
        </p:txBody>
      </p:sp>
      <p:pic>
        <p:nvPicPr>
          <p:cNvPr id="3" name="图片 2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4" name="Shape 165"/>
          <p:cNvSpPr/>
          <p:nvPr/>
        </p:nvSpPr>
        <p:spPr>
          <a:xfrm>
            <a:off x="-11974" y="1410950"/>
            <a:ext cx="12192002" cy="70675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程序设计实践课程答辩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40480" y="4892040"/>
            <a:ext cx="4480560" cy="7626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25400" rIns="50800" bIns="45719" numCol="1" spcCol="38100" rtlCol="0" anchor="t">
            <a:spAutoFit/>
          </a:bodyPr>
          <a:lstStyle/>
          <a:p>
            <a:pPr marL="0" marR="0" indent="0" algn="ctr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>
                <a:solidFill>
                  <a:srgbClr val="333A44"/>
                </a:solidFill>
                <a:latin typeface="Calibri" panose="020F0502020204030204"/>
              </a:rPr>
              <a:t>程展鹏　2537122</a:t>
            </a:r>
            <a:r>
              <a:rPr lang="en-US" sz="1800" b="0">
                <a:solidFill>
                  <a:srgbClr val="333A44"/>
                </a:solidFill>
                <a:latin typeface="Calibri" panose="020F0502020204030204"/>
              </a:rPr>
              <a:t>4</a:t>
            </a:r>
            <a:endParaRPr lang="en-US" altLang="zh-CN" sz="2400" b="1" dirty="0"/>
          </a:p>
          <a:p>
            <a:pPr algn="ctr"/>
            <a:r>
              <a:rPr sz="1800" b="0">
                <a:solidFill>
                  <a:srgbClr val="333A44"/>
                </a:solidFill>
                <a:latin typeface="Calibri" panose="020F0502020204030204"/>
              </a:rPr>
              <a:t>2026年9月5日</a:t>
            </a:r>
            <a:endParaRPr sz="1800" b="0">
              <a:solidFill>
                <a:srgbClr val="333A44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0" y="828628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5" name="Shape 165"/>
          <p:cNvSpPr/>
          <p:nvPr/>
        </p:nvSpPr>
        <p:spPr>
          <a:xfrm>
            <a:off x="-1" y="1154669"/>
            <a:ext cx="12179501" cy="70788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作品世界观概述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166" name="TextBox 165"/>
          <p:cNvSpPr txBox="1"/>
          <p:nvPr/>
        </p:nvSpPr>
        <p:spPr>
          <a:xfrm>
            <a:off x="1802765" y="2708910"/>
            <a:ext cx="8615045" cy="1991995"/>
          </a:xfrm>
          <a:prstGeom prst="rect">
            <a:avLst/>
          </a:prstGeom>
          <a:noFill/>
        </p:spPr>
        <p:txBody>
          <a:bodyPr wrap="square" lIns="50800" tIns="25400" rIns="50800">
            <a:noAutofit/>
          </a:bodyPr>
          <a:lstStyle/>
          <a:p>
            <a:pPr algn="l"/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【梦的由来】</a:t>
            </a:r>
            <a:endParaRPr sz="17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在现实与梦境的边界上，人们遗忘的记忆散落在名为「梦境」的迷宫中。那些被压抑的情感并未消失，而是化作「心魔」——暴怒、嫉妒、傲慢、贪食、疑惧、守序、依赖、贪婪、虚无，在心灵深处低语、扭曲、重现。当一个人被心魔彻底吞噬，他的记忆便坠入深层梦境，成为循环不止的一段回响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【入梦师】</a:t>
            </a:r>
            <a:endParaRPr sz="15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你扮演的是一名「入梦师」——能够踏入他人梦境、直面心魔的守护者。从镇魇武者、逐影猎手、织梦术士、引魂医者等十二名入梦师中选择其一，各自代表不同的守护之道：以蓄力重击镇魇、以连射猎梦、以高威法术织梦、以安魂之术引魂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【梦境循环】</a:t>
            </a:r>
            <a:endParaRPr sz="15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梦境从不固定。每次入梦，13 格航线的节点都会重新排列：镇守、奇遇、奖励、招募，以及潜伏在第四、八格的精英心魔与终焉的虚无首领。你须一边构筑队伍、收集记忆残片、抵御「梦蚀」的侵蚀，一边在无尽的循环中逼近真相——净化心魔、修补被遗忘的记忆，打破这场无穷的「梦境回声」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0" y="828628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5" name="Shape 165"/>
          <p:cNvSpPr/>
          <p:nvPr/>
        </p:nvSpPr>
        <p:spPr>
          <a:xfrm>
            <a:off x="-1" y="1154669"/>
            <a:ext cx="12179501" cy="707886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作品技术路线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5800" y="2487168"/>
            <a:ext cx="6583680" cy="340995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25400" rIns="50800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开发语言：GDScript（Godot 脚本）</a:t>
            </a:r>
            <a:endParaRPr lang="en-US" altLang="zh-CN" b="1" dirty="0"/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弱类型动态脚本语言，内置 2D 渲染、物理、UI 与音频系统，开发/运行于 Windows。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基础框架：Godot 4.7.2 游戏引擎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纯代码构建 UI（CanvasItem / Control + 自定义主题、九宫格、单例）；资源集中管理 art_assets.gd。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大模型工具：Codex（GPT-5.6 Sol）+ DeepSeek V4 Flash Vision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辅助编写与调试 GDScript 代码；AI 生图生成角色 / 敌人 / 背景 / 特效素材；AI 生乐生成 BGM 与音效。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软件系统架构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数据驱动（game_data.gd）+ autoload 单例（Run 状态 / Meta 局外成长 / AudioMan 音频）+ 场景化 UI 工厂（ui_theme.gd），视口 16:10 自适应。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lang="zh-CN" sz="1400" b="0">
                <a:solidFill>
                  <a:srgbClr val="222B3A"/>
                </a:solidFill>
                <a:latin typeface="Calibri" panose="020F0502020204030204"/>
                <a:ea typeface="宋体" panose="02010600030101010101" pitchFamily="2" charset="-122"/>
              </a:rPr>
              <a:t>其中，我本人撰写了两次设计思路，分别对应开题时和进入美工设计时的个人设计想法，想法的实现主要还是借助大模型。</a:t>
            </a:r>
            <a:endParaRPr lang="zh-CN" sz="1400" b="0">
              <a:solidFill>
                <a:srgbClr val="222B3A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pic>
        <p:nvPicPr>
          <p:cNvPr id="166" name="Picture 16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2323465"/>
            <a:ext cx="3362960" cy="1891665"/>
          </a:xfrm>
          <a:prstGeom prst="rect">
            <a:avLst/>
          </a:prstGeom>
        </p:spPr>
      </p:pic>
      <p:pic>
        <p:nvPicPr>
          <p:cNvPr id="167" name="Picture 16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425" y="4509135"/>
            <a:ext cx="3375660" cy="1898650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7574" y="2852936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5" name="Shape 165"/>
          <p:cNvSpPr/>
          <p:nvPr/>
        </p:nvSpPr>
        <p:spPr>
          <a:xfrm>
            <a:off x="7573" y="3178977"/>
            <a:ext cx="12179501" cy="70675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作品演示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pic>
        <p:nvPicPr>
          <p:cNvPr id="166" name="Picture 165" descr="01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97480"/>
            <a:ext cx="3246120" cy="2011680"/>
          </a:xfrm>
          <a:prstGeom prst="rect">
            <a:avLst/>
          </a:prstGeom>
        </p:spPr>
      </p:pic>
      <p:pic>
        <p:nvPicPr>
          <p:cNvPr id="167" name="Picture 166" descr="04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697480"/>
            <a:ext cx="3246120" cy="2011680"/>
          </a:xfrm>
          <a:prstGeom prst="rect">
            <a:avLst/>
          </a:prstGeom>
        </p:spPr>
      </p:pic>
      <p:pic>
        <p:nvPicPr>
          <p:cNvPr id="168" name="Picture 167" descr="06_batt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697480"/>
            <a:ext cx="3246120" cy="2011680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640080" y="5074920"/>
            <a:ext cx="10972800" cy="1280160"/>
          </a:xfrm>
          <a:prstGeom prst="rect">
            <a:avLst/>
          </a:prstGeom>
          <a:noFill/>
        </p:spPr>
        <p:txBody>
          <a:bodyPr wrap="square" lIns="50800" tIns="25400" rIns="50800">
            <a:spAutoFit/>
          </a:bodyPr>
          <a:lstStyle/>
          <a:p>
            <a:pPr algn="l"/>
            <a:r>
              <a:rPr sz="1400" b="0">
                <a:solidFill>
                  <a:srgbClr val="333A44"/>
                </a:solidFill>
                <a:latin typeface="Calibri" panose="020F0502020204030204"/>
              </a:rPr>
              <a:t>完整流程演示见现场视频（约 2 分钟）：标题 → 选择 → 规划 → 地图 → 战前装备 → 战斗（攻击星 / 伤害数字 / 治疗 / 护盾特效）→ 奖励。</a:t>
            </a:r>
            <a:endParaRPr sz="1400" b="0">
              <a:solidFill>
                <a:srgbClr val="333A44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333A44"/>
                </a:solidFill>
                <a:latin typeface="Calibri" panose="020F0502020204030204"/>
              </a:rPr>
              <a:t>以上为游戏核心界面截图。</a:t>
            </a:r>
            <a:endParaRPr sz="1400" b="0">
              <a:solidFill>
                <a:srgbClr val="333A44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0" y="828628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5" name="Shape 165"/>
          <p:cNvSpPr/>
          <p:nvPr/>
        </p:nvSpPr>
        <p:spPr>
          <a:xfrm>
            <a:off x="-1" y="1154669"/>
            <a:ext cx="12179501" cy="70675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关键问题及解决方法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40080" y="2423160"/>
            <a:ext cx="10972800" cy="22860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25400" rIns="50800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400" b="1">
                <a:solidFill>
                  <a:srgbClr val="9C7A2E"/>
                </a:solidFill>
                <a:latin typeface="Calibri" panose="020F0502020204030204"/>
              </a:rPr>
              <a:t>问题一：UI 初次不美观、界面拥挤；加入美术资源时文不对图</a:t>
            </a:r>
            <a:endParaRPr lang="en-US" altLang="zh-CN" b="1" dirty="0"/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难点：初次生成的 UI 不够美观、界面略显拥挤；第一次加入美术资源时，图片与各项资源的调整存在问题，出现「文不对图」。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解决：选用 DeepSeek-V4-Flash-Vision（识图 / 视觉处理优于 V4-Pro）辅助审美与美术对齐，并自己撰写 UI 设计思路、对每个界面做精确指导；结合「最亮通道 + 高阈值」抠图、「加法混合」防黑影、AUTOWRAP_ARBITRARY 防中文溢出。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效果：界面整洁美观、图文一致、特效干净。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1">
                <a:solidFill>
                  <a:srgbClr val="9C7A2E"/>
                </a:solidFill>
                <a:latin typeface="Calibri" panose="020F0502020204030204"/>
              </a:rPr>
              <a:t>问题二：机制定稿后，具体数值与技能设计工作量很大</a:t>
            </a:r>
            <a:endParaRPr sz="14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难点：确定游戏机制后，具体数值与技能层级的设定工作量巨大。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解决：先给出自己的想法（想设计什么特长的角色），再让大模型补全角色的具体信息与数值；自己试玩检测，若某角色无需运营（微操）就能发挥过高战力、或数值失衡，则回炉调整。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效果：角色各具特色、数值平衡、可玩性好。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400" b="1">
                <a:solidFill>
                  <a:srgbClr val="9C7A2E"/>
                </a:solidFill>
                <a:latin typeface="Calibri" panose="020F0502020204030204"/>
              </a:rPr>
              <a:t>问题三：纯代码构建 UI 的布局与比例</a:t>
            </a:r>
            <a:endParaRPr sz="14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400" b="0">
                <a:solidFill>
                  <a:srgbClr val="222B3A"/>
                </a:solidFill>
                <a:latin typeface="Calibri" panose="020F0502020204030204"/>
              </a:rPr>
              <a:t>•  难点：全部 UI 由代码搭建（非 .tscn），锚点 / 尺寸 / 滚动需手动。解决：建 ui_theme.gd 组件工厂统一封装，按 16:10 视口自适应。效果：界面一致、易维护。</a:t>
            </a:r>
            <a:endParaRPr sz="1400" b="0">
              <a:solidFill>
                <a:srgbClr val="222B3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/>
        </p:nvSpPr>
        <p:spPr>
          <a:xfrm>
            <a:off x="2367505" y="-433597"/>
            <a:ext cx="7486016" cy="74066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ctr">
              <a:defRPr sz="49600" b="1">
                <a:solidFill>
                  <a:srgbClr val="FFFFFF"/>
                </a:solidFill>
              </a:defRPr>
            </a:lvl1pPr>
          </a:lstStyle>
          <a:p>
            <a:r>
              <a:rPr dirty="0">
                <a:latin typeface="Calibri" panose="020F0502020204030204"/>
              </a:rPr>
              <a:t>01</a:t>
            </a:r>
            <a:endParaRPr dirty="0">
              <a:latin typeface="Calibri" panose="020F0502020204030204"/>
            </a:endParaRPr>
          </a:p>
        </p:txBody>
      </p:sp>
      <p:sp>
        <p:nvSpPr>
          <p:cNvPr id="164" name="Shape 164"/>
          <p:cNvSpPr/>
          <p:nvPr/>
        </p:nvSpPr>
        <p:spPr>
          <a:xfrm>
            <a:off x="0" y="828628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sp>
        <p:nvSpPr>
          <p:cNvPr id="165" name="Shape 165"/>
          <p:cNvSpPr/>
          <p:nvPr/>
        </p:nvSpPr>
        <p:spPr>
          <a:xfrm>
            <a:off x="-1" y="1154669"/>
            <a:ext cx="12179501" cy="706755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/>
          <a:p>
            <a:pPr algn="ctr">
              <a:defRPr sz="4800" b="1" spc="600">
                <a:solidFill>
                  <a:srgbClr val="251715"/>
                </a:solidFill>
              </a:defRPr>
            </a:pPr>
            <a:r>
              <a:rPr lang="zh-CN" altLang="en-US" sz="4000" dirty="0">
                <a:latin typeface="Calibri" panose="020F0502020204030204" pitchFamily="34" charset="0"/>
                <a:cs typeface="Arial" panose="020B0604020202020204" pitchFamily="34" charset="0"/>
              </a:rPr>
              <a:t>总结</a:t>
            </a:r>
            <a:endParaRPr lang="zh-CN" altLang="en-US" sz="4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图片 3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40080" y="2423160"/>
            <a:ext cx="10972800" cy="237871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25400" rIns="50800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作品下一步发展设想</a:t>
            </a:r>
            <a:endParaRPr kumimoji="0" lang="en-US" altLang="zh-CN" sz="1800" b="1" i="0" u="none" strike="noStrike" cap="none" spc="0" normalizeH="0" baseline="0" dirty="0">
              <a:ln>
                <a:noFill/>
              </a:ln>
              <a:solidFill>
                <a:srgbClr val="3F3F3F"/>
              </a:solidFill>
              <a:effectLst/>
              <a:uFillTx/>
              <a:latin typeface="Myriad Pro Light"/>
              <a:ea typeface="Myriad Pro Light"/>
              <a:cs typeface="Myriad Pro Light"/>
              <a:sym typeface="Myriad Pro Light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扩充更多角色 / 心魔 / 敌人与技能，完善关卡数值与平衡，加入多周目与更多奇遇事件；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深化局外成长（回声碎片解锁更多入梦师）与成就系统；打磨美术表现与音效；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支持手柄 / 移动端 / 云存档，优化性能与新手引导。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技术收获</a:t>
            </a:r>
            <a:endParaRPr sz="15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系统掌握 Godot 4 / GDScript 游戏开发流程与调试方法；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学会借助大模型（Codex / DeepSeek-V4-Flash-Vision）辅助写码、生图、生乐，显著提升开发效率。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1">
                <a:solidFill>
                  <a:srgbClr val="9C7A2E"/>
                </a:solidFill>
                <a:latin typeface="Calibri" panose="020F0502020204030204"/>
              </a:rPr>
              <a:t>课程心得体会</a:t>
            </a:r>
            <a:endParaRPr sz="1500" b="1">
              <a:solidFill>
                <a:srgbClr val="9C7A2E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从需求分析、技术选型到编码、调试、发布，完整走完一款中小型游戏；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  <a:p>
            <a:pPr algn="l"/>
            <a:r>
              <a:rPr sz="1500" b="0">
                <a:solidFill>
                  <a:srgbClr val="222B3A"/>
                </a:solidFill>
                <a:latin typeface="Calibri" panose="020F0502020204030204"/>
              </a:rPr>
              <a:t>•  体会到 AI 是高效工具，但架构设计与核心逻辑仍须自己思考与验证；学会拆解需求、迭代打磨，耐心与工程化是品质的关键。</a:t>
            </a:r>
            <a:endParaRPr sz="1500" b="0">
              <a:solidFill>
                <a:srgbClr val="222B3A"/>
              </a:solidFill>
              <a:latin typeface="Calibri" panose="020F0502020204030204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roup 455"/>
          <p:cNvGrpSpPr/>
          <p:nvPr/>
        </p:nvGrpSpPr>
        <p:grpSpPr>
          <a:xfrm>
            <a:off x="2351306" y="3702928"/>
            <a:ext cx="6960361" cy="1441451"/>
            <a:chOff x="-27305" y="-518160"/>
            <a:chExt cx="6960359" cy="1441450"/>
          </a:xfrm>
        </p:grpSpPr>
        <p:sp>
          <p:nvSpPr>
            <p:cNvPr id="453" name="Shape 453"/>
            <p:cNvSpPr/>
            <p:nvPr/>
          </p:nvSpPr>
          <p:spPr>
            <a:xfrm>
              <a:off x="-27305" y="-518160"/>
              <a:ext cx="6960359" cy="1441450"/>
            </a:xfrm>
            <a:prstGeom prst="roundRect">
              <a:avLst>
                <a:gd name="adj" fmla="val 32546"/>
              </a:avLst>
            </a:prstGeom>
            <a:solidFill>
              <a:srgbClr val="F8F8F6"/>
            </a:solidFill>
            <a:ln w="12700" cap="flat">
              <a:solidFill>
                <a:srgbClr val="251715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4800">
                  <a:solidFill>
                    <a:srgbClr val="251715"/>
                  </a:solidFill>
                </a:defRPr>
              </a:pPr>
            </a:p>
          </p:txBody>
        </p:sp>
        <p:sp>
          <p:nvSpPr>
            <p:cNvPr id="454" name="Shape 454"/>
            <p:cNvSpPr/>
            <p:nvPr/>
          </p:nvSpPr>
          <p:spPr>
            <a:xfrm>
              <a:off x="110100" y="-143511"/>
              <a:ext cx="6685548" cy="8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sz="4800">
                  <a:solidFill>
                    <a:srgbClr val="251715"/>
                  </a:solidFill>
                </a:defRPr>
              </a:lvl1pPr>
            </a:lstStyle>
            <a:p>
              <a:r>
                <a:t>THANKS FOR WATCHING</a:t>
              </a:r>
            </a:p>
          </p:txBody>
        </p:sp>
      </p:grpSp>
      <p:sp>
        <p:nvSpPr>
          <p:cNvPr id="456" name="Shape 456"/>
          <p:cNvSpPr/>
          <p:nvPr/>
        </p:nvSpPr>
        <p:spPr>
          <a:xfrm>
            <a:off x="5671220" y="6102727"/>
            <a:ext cx="187571" cy="187571"/>
          </a:xfrm>
          <a:prstGeom prst="ellipse">
            <a:avLst/>
          </a:prstGeom>
          <a:solidFill>
            <a:srgbClr val="8DA74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Shape 457"/>
          <p:cNvSpPr/>
          <p:nvPr/>
        </p:nvSpPr>
        <p:spPr>
          <a:xfrm>
            <a:off x="6004595" y="6102727"/>
            <a:ext cx="187571" cy="187571"/>
          </a:xfrm>
          <a:prstGeom prst="ellipse">
            <a:avLst/>
          </a:prstGeom>
          <a:solidFill>
            <a:srgbClr val="3676A3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Shape 458"/>
          <p:cNvSpPr/>
          <p:nvPr/>
        </p:nvSpPr>
        <p:spPr>
          <a:xfrm>
            <a:off x="6337970" y="6102725"/>
            <a:ext cx="187571" cy="187571"/>
          </a:xfrm>
          <a:prstGeom prst="ellipse">
            <a:avLst/>
          </a:prstGeom>
          <a:solidFill>
            <a:srgbClr val="C8A062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9" name="Shape 459"/>
          <p:cNvSpPr/>
          <p:nvPr/>
        </p:nvSpPr>
        <p:spPr>
          <a:xfrm>
            <a:off x="5337845" y="6102725"/>
            <a:ext cx="187571" cy="187571"/>
          </a:xfrm>
          <a:prstGeom prst="ellipse">
            <a:avLst/>
          </a:prstGeom>
          <a:solidFill>
            <a:srgbClr val="CD323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60" name="Shape 460"/>
          <p:cNvSpPr/>
          <p:nvPr/>
        </p:nvSpPr>
        <p:spPr>
          <a:xfrm>
            <a:off x="6671346" y="6102724"/>
            <a:ext cx="187571" cy="187571"/>
          </a:xfrm>
          <a:prstGeom prst="ellipse">
            <a:avLst/>
          </a:prstGeom>
          <a:solidFill>
            <a:srgbClr val="251715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Shape 164"/>
          <p:cNvSpPr/>
          <p:nvPr/>
        </p:nvSpPr>
        <p:spPr>
          <a:xfrm>
            <a:off x="-4877" y="1993079"/>
            <a:ext cx="12206513" cy="1368152"/>
          </a:xfrm>
          <a:prstGeom prst="rect">
            <a:avLst/>
          </a:prstGeom>
          <a:solidFill>
            <a:srgbClr val="F8F8F6"/>
          </a:solidFill>
          <a:ln w="12700">
            <a:solidFill>
              <a:srgbClr val="D9D9D9"/>
            </a:solidFill>
            <a:miter/>
          </a:ln>
        </p:spPr>
        <p:txBody>
          <a:bodyPr lIns="45719" rIns="45719" anchor="ctr"/>
          <a:lstStyle/>
          <a:p>
            <a:pPr algn="ctr"/>
          </a:p>
        </p:txBody>
      </p:sp>
      <p:pic>
        <p:nvPicPr>
          <p:cNvPr id="3" name="图片 2" descr="北航标志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" y="0"/>
            <a:ext cx="3404870" cy="935990"/>
          </a:xfrm>
          <a:prstGeom prst="rect">
            <a:avLst/>
          </a:prstGeom>
        </p:spPr>
      </p:pic>
      <p:sp>
        <p:nvSpPr>
          <p:cNvPr id="461" name="TextBox 460"/>
          <p:cNvSpPr txBox="1"/>
          <p:nvPr/>
        </p:nvSpPr>
        <p:spPr>
          <a:xfrm>
            <a:off x="4206240" y="5486400"/>
            <a:ext cx="3840480" cy="501650"/>
          </a:xfrm>
          <a:prstGeom prst="rect">
            <a:avLst/>
          </a:prstGeom>
          <a:noFill/>
        </p:spPr>
        <p:txBody>
          <a:bodyPr wrap="square" lIns="50800" tIns="25400" rIns="50800">
            <a:spAutoFit/>
          </a:bodyPr>
          <a:lstStyle/>
          <a:p>
            <a:pPr algn="ctr"/>
            <a:r>
              <a:rPr sz="1400" b="0">
                <a:solidFill>
                  <a:srgbClr val="333A44"/>
                </a:solidFill>
                <a:latin typeface="Calibri" panose="020F0502020204030204"/>
              </a:rPr>
              <a:t>分享人：程展鹏　2537122</a:t>
            </a:r>
            <a:r>
              <a:rPr lang="en-US" sz="1400" b="0">
                <a:solidFill>
                  <a:srgbClr val="333A44"/>
                </a:solidFill>
                <a:latin typeface="Calibri" panose="020F0502020204030204"/>
              </a:rPr>
              <a:t>4</a:t>
            </a:r>
            <a:endParaRPr lang="en-US" sz="1400" b="0">
              <a:solidFill>
                <a:srgbClr val="333A44"/>
              </a:solidFill>
              <a:latin typeface="Calibri" panose="020F0502020204030204"/>
            </a:endParaRPr>
          </a:p>
          <a:p>
            <a:pPr algn="ctr"/>
            <a:endParaRPr lang="en-US" sz="1400" b="0">
              <a:solidFill>
                <a:srgbClr val="333A44"/>
              </a:solidFill>
              <a:latin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push/>
      </p:transition>
    </mc:Choice>
    <mc:Fallback>
      <p:transition spd="slow">
        <p:push/>
      </p:transition>
    </mc:Fallback>
  </mc:AlternateContent>
</p:sld>
</file>

<file path=ppt/theme/theme1.xml><?xml version="1.0" encoding="utf-8"?>
<a:theme xmlns:a="http://schemas.openxmlformats.org/drawingml/2006/main" name="Default">
  <a:themeElements>
    <a:clrScheme name="Default">
      <a:dk1>
        <a:srgbClr val="3F3F3F"/>
      </a:dk1>
      <a:lt1>
        <a:srgbClr val="FFFFFF"/>
      </a:lt1>
      <a:dk2>
        <a:srgbClr val="A7A7A7"/>
      </a:dk2>
      <a:lt2>
        <a:srgbClr val="535353"/>
      </a:lt2>
      <a:accent1>
        <a:srgbClr val="EC115F"/>
      </a:accent1>
      <a:accent2>
        <a:srgbClr val="F9A519"/>
      </a:accent2>
      <a:accent3>
        <a:srgbClr val="52C5D7"/>
      </a:accent3>
      <a:accent4>
        <a:srgbClr val="71BE44"/>
      </a:accent4>
      <a:accent5>
        <a:srgbClr val="8D52A0"/>
      </a:accent5>
      <a:accent6>
        <a:srgbClr val="F26F20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Myriad Pro Light"/>
            <a:ea typeface="Myriad Pro Light"/>
            <a:cs typeface="Myriad Pro Light"/>
            <a:sym typeface="Myriad Pr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Myriad Pro Light"/>
            <a:ea typeface="Myriad Pro Light"/>
            <a:cs typeface="Myriad Pro Light"/>
            <a:sym typeface="Myriad Pr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C115F"/>
      </a:accent1>
      <a:accent2>
        <a:srgbClr val="F9A519"/>
      </a:accent2>
      <a:accent3>
        <a:srgbClr val="52C5D7"/>
      </a:accent3>
      <a:accent4>
        <a:srgbClr val="71BE44"/>
      </a:accent4>
      <a:accent5>
        <a:srgbClr val="8D52A0"/>
      </a:accent5>
      <a:accent6>
        <a:srgbClr val="F26F20"/>
      </a:accent6>
      <a:hlink>
        <a:srgbClr val="0000FF"/>
      </a:hlink>
      <a:folHlink>
        <a:srgbClr val="FF00FF"/>
      </a:folHlink>
    </a:clrScheme>
    <a:fontScheme name="Default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Myriad Pro Light"/>
            <a:ea typeface="Myriad Pro Light"/>
            <a:cs typeface="Myriad Pro Light"/>
            <a:sym typeface="Myriad Pr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3F3F3F"/>
            </a:solidFill>
            <a:effectLst/>
            <a:uFillTx/>
            <a:latin typeface="Myriad Pro Light"/>
            <a:ea typeface="Myriad Pro Light"/>
            <a:cs typeface="Myriad Pro Light"/>
            <a:sym typeface="Myriad Pro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1912</Words>
  <Application>WPS 演示</Application>
  <PresentationFormat>宽屏</PresentationFormat>
  <Paragraphs>77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Myriad Pro Light</vt:lpstr>
      <vt:lpstr>Segoe Print</vt:lpstr>
      <vt:lpstr>Arial</vt:lpstr>
      <vt:lpstr>Calibri</vt:lpstr>
      <vt:lpstr>Helvetica Neue</vt:lpstr>
      <vt:lpstr>Calibri</vt:lpstr>
      <vt:lpstr>微软雅黑</vt:lpstr>
      <vt:lpstr>Arial Unicode MS</vt:lpstr>
      <vt:lpstr>Default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elex</dc:creator>
  <cp:lastModifiedBy>木</cp:lastModifiedBy>
  <cp:revision>174</cp:revision>
  <cp:lastPrinted>2025-12-24T10:10:00Z</cp:lastPrinted>
  <dcterms:created xsi:type="dcterms:W3CDTF">2026-08-24T09:49:00Z</dcterms:created>
  <dcterms:modified xsi:type="dcterms:W3CDTF">2026-09-04T15:02:32Z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DEE6AC655D054C05BB7C29A7855F473C_13</vt:lpwstr>
  </property>
  <property fmtid="{D5CDD505-2E9C-101B-9397-08002B2CF9AE}" pid="3" name="KSOProductBuildVer">
    <vt:lpwstr>2052-12.1.0.28043</vt:lpwstr>
  </property>
</Properties>
</file>